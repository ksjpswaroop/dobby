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two pains at once: workflow fragmentation and data-privacy risk. The privacy angle is the differentiator — every cloud AI tool asks you to trust their servers. Highlight that verification is unsolved: teams can't trust AI output without checking it by hand. Land that current tools are both leaky and unreliable.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thesis: local models are finally good enough, and the hardware and runtimes exist to run them well. This wasn't true 18 months ago. Pair the tech shift with the regulatory and trust shift — the market is being pushed off cloud AI. Timing is the investor's key question; make the inflection concrete.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Dobby as the single categorized surface that replaces the fragmented toolchain. Walk the six categories quickly — the point is breadth unified under one minimal UI, not feature-by-feature. Everything runs locally with a bring-your-own-model core. This is the 'AI OS for builders' made concrete.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pipeline and the stack. The verifier is the trust layer — deterministic checks turn unreliable AI output into engineering-grade artifacts. Everything is local and observable, which is what enterprises and serious builders need. Keep this technical enough to signal we've built real infrastructure, not a wrapper.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proves execution. We already turn ideas into verified engineering documents with a real verification layer — the hard part. Stress that the local-first architecture is done and working, not aspirational. Everything on the roadmap builds on infrastructure that already ships.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is roughly two months and ends in shippable value. Phases 1–4 deepen the single-user product; 5–6 open the marketplace that turns Dobby into a platform. Sequencing is deliberate — build the surface, then automation, then the ecosystem. This is the path from tool to platform.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the large, fast-growing dev-tools market, then narrow credibly. The SOM is the privacy-first slice — defensible and underserved. Point to the existing millions of Ollama/llama.cpp installs as proof the beachhead audience already exists and self-selects on local-first. Numbers are illustrative but grounded.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a 2x2: axes are local-first vs. cloud, and single-tool vs. integrated workbench. Competitors cluster in cloud or in raw local runtimes. No one occupies the local-first + integrated + verified corner. That empty quadrant is our position.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moats: architecture and network effects. Incumbents' cloud businesses make it costly for them to go truly local. The marketplace is the compounding advantage — once creators build on our SDK, the ecosystem becomes the lock-in. Verification and BYO-model reinforce trust and durability.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kicker: because inference is on-device, we carry almost no COGS — unusually high margins for an AI company. Freemium converts privacy-conscious individuals to Pro, teams scale seats, and the marketplace adds a compounding revenue line. Enterprise is the high-ACV upside for regulated buyers.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bottom-up dev-tools motion: win individual developers first, expand into teams, then land enterprises. The existing local-model community is a warm, self-selected beachhead. The marketplace doubles as a growth loop — creators bring their own audiences. Enterprise follows once trust and usage are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Milestones tie directly to the roadmap phases so investors see product and traction moving together. Growth is bottom-up and community-driven, converting to paid as automation and marketplace value land. Numbers are illustrative but reflect a realistic PLG dev-tools ramp. Enterprise design partners de-risk the high-ACV path.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a small team already shipped the hard parts — the verification layer and local-first architecture. Seed capital funds a focused team to execute the roadmap and light up community growth. The on-device model keeps the team lean since there's no cloud inference to operate. Advisors fill GTM and ecosystem gaps.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specific ask with a use-of-funds breakdown weighted to product and community. $2M gives roughly 24 months of runway given the lean, no-inference-cost model. The raise funds the path to a live marketplace and meaningful MRR — the proof points for Series A. Tie the ask directly to the milestone plan.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big picture: Dobby becomes the operating system for builders in the AI era. Return to the founding belief — people should own their tools and data. The marketplace is what turns a great product into a durable platform. End with conviction that local-first is where AI is heading, and we're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C1D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2011680"/>
          </a:xfrm>
          <a:prstGeom prst="rect">
            <a:avLst/>
          </a:prstGeom>
          <a:noFill/>
        </p:spPr>
        <p:txBody>
          <a:bodyPr wrap="square">
            <a:spAutoFit/>
          </a:bodyPr>
          <a:lstStyle/>
          <a:p>
            <a:r>
              <a:rPr sz="4600" b="1">
                <a:solidFill>
                  <a:srgbClr val="FFFFFF"/>
                </a:solidFill>
                <a:latin typeface="Arial"/>
              </a:rPr>
              <a:t>Dobby</a:t>
            </a:r>
          </a:p>
          <a:p>
            <a:r>
              <a:rPr sz="2200" b="0">
                <a:solidFill>
                  <a:srgbClr val="D6CBF7"/>
                </a:solidFill>
                <a:latin typeface="Arial"/>
              </a:rPr>
              <a:t>The local-first AI workbench for builders</a:t>
            </a:r>
          </a:p>
          <a:p>
            <a:pPr>
              <a:spcBef>
                <a:spcPts val="1400"/>
              </a:spcBef>
            </a:pPr>
            <a:r>
              <a:rPr sz="1600" b="0">
                <a:solidFill>
                  <a:srgbClr val="E9E2FB"/>
                </a:solidFill>
                <a:latin typeface="Arial"/>
              </a:rPr>
              <a:t>One desktop app to capture, generate, automate, build, and ship — fully on-device</a:t>
            </a:r>
          </a:p>
        </p:txBody>
      </p:sp>
      <p:sp>
        <p:nvSpPr>
          <p:cNvPr id="5" name="TextBox 4"/>
          <p:cNvSpPr txBox="1"/>
          <p:nvPr/>
        </p:nvSpPr>
        <p:spPr>
          <a:xfrm>
            <a:off x="822960" y="6126480"/>
            <a:ext cx="10515600" cy="457200"/>
          </a:xfrm>
          <a:prstGeom prst="rect">
            <a:avLst/>
          </a:prstGeom>
          <a:noFill/>
        </p:spPr>
        <p:txBody>
          <a:bodyPr wrap="square">
            <a:spAutoFit/>
          </a:bodyPr>
          <a:lstStyle/>
          <a:p>
            <a:r>
              <a:rPr sz="1200" b="0">
                <a:solidFill>
                  <a:srgbClr val="B8A8EC"/>
                </a:solidFill>
                <a:latin typeface="Arial"/>
              </a:rPr>
              <a:t>Seed round · Local-first AI workbench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 The problem</a:t>
            </a:r>
          </a:p>
          <a:p>
            <a:r>
              <a:rPr sz="1500" b="0">
                <a:solidFill>
                  <a:srgbClr val="6B6B76"/>
                </a:solidFill>
                <a:latin typeface="Arial"/>
              </a:rPr>
              <a:t>Building is fragmented, and AI tools leak your data</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Builders juggle 8–12 disconnected tools from idea to ship — constant context-switching</a:t>
            </a:r>
          </a:p>
          <a:p>
            <a:pPr>
              <a:spcAft>
                <a:spcPts val="1000"/>
              </a:spcAft>
            </a:pPr>
            <a:r>
              <a:rPr sz="1600" b="1">
                <a:solidFill>
                  <a:srgbClr val="7C3AED"/>
                </a:solidFill>
                <a:latin typeface="Arial"/>
              </a:rPr>
              <a:t>▸  </a:t>
            </a:r>
            <a:r>
              <a:rPr sz="1600" b="0">
                <a:solidFill>
                  <a:srgbClr val="1B1B1F"/>
                </a:solidFill>
                <a:latin typeface="Arial"/>
              </a:rPr>
              <a:t>Cloud AI tools force a trade: send your IP and code to someone else's servers, or go without</a:t>
            </a:r>
          </a:p>
          <a:p>
            <a:pPr>
              <a:spcAft>
                <a:spcPts val="1000"/>
              </a:spcAft>
            </a:pPr>
            <a:r>
              <a:rPr sz="1600" b="1">
                <a:solidFill>
                  <a:srgbClr val="7C3AED"/>
                </a:solidFill>
                <a:latin typeface="Arial"/>
              </a:rPr>
              <a:t>▸  </a:t>
            </a:r>
            <a:r>
              <a:rPr sz="1600" b="0">
                <a:solidFill>
                  <a:srgbClr val="1B1B1F"/>
                </a:solidFill>
                <a:latin typeface="Arial"/>
              </a:rPr>
              <a:t>Enterprises and regulated teams block cloud AI outright — no private option exists</a:t>
            </a:r>
          </a:p>
          <a:p>
            <a:pPr>
              <a:spcAft>
                <a:spcPts val="1000"/>
              </a:spcAft>
            </a:pPr>
            <a:r>
              <a:rPr sz="1600" b="1">
                <a:solidFill>
                  <a:srgbClr val="7C3AED"/>
                </a:solidFill>
                <a:latin typeface="Arial"/>
              </a:rPr>
              <a:t>▸  </a:t>
            </a:r>
            <a:r>
              <a:rPr sz="1600" b="0">
                <a:solidFill>
                  <a:srgbClr val="1B1B1F"/>
                </a:solidFill>
                <a:latin typeface="Arial"/>
              </a:rPr>
              <a:t>AI output is unreliable: hallucinated specs, unverifiable docs, no audit trail</a:t>
            </a:r>
          </a:p>
          <a:p>
            <a:pPr>
              <a:spcAft>
                <a:spcPts val="1000"/>
              </a:spcAft>
            </a:pPr>
            <a:r>
              <a:rPr sz="1600" b="1">
                <a:solidFill>
                  <a:srgbClr val="7C3AED"/>
                </a:solidFill>
                <a:latin typeface="Arial"/>
              </a:rPr>
              <a:t>▸  </a:t>
            </a:r>
            <a:r>
              <a:rPr sz="1600" b="0">
                <a:solidFill>
                  <a:srgbClr val="1B1B1F"/>
                </a:solidFill>
                <a:latin typeface="Arial"/>
              </a:rPr>
              <a:t>Per-seat, per-token pricing punishes heavy usage and locks in vendor dependency</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2. Why now</a:t>
            </a:r>
          </a:p>
          <a:p>
            <a:r>
              <a:rPr sz="1500" b="0">
                <a:solidFill>
                  <a:srgbClr val="6B6B76"/>
                </a:solidFill>
                <a:latin typeface="Arial"/>
              </a:rPr>
              <a:t>On-device AI just crossed the usability line</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Open models (Llama, Qwen, Mistral) now rival GPT-4-class quality — and run on a laptop</a:t>
            </a:r>
          </a:p>
          <a:p>
            <a:pPr>
              <a:spcAft>
                <a:spcPts val="1000"/>
              </a:spcAft>
            </a:pPr>
            <a:r>
              <a:rPr sz="1600" b="1">
                <a:solidFill>
                  <a:srgbClr val="7C3AED"/>
                </a:solidFill>
                <a:latin typeface="Arial"/>
              </a:rPr>
              <a:t>▸  </a:t>
            </a:r>
            <a:r>
              <a:rPr sz="1600" b="0">
                <a:solidFill>
                  <a:srgbClr val="1B1B1F"/>
                </a:solidFill>
                <a:latin typeface="Arial"/>
              </a:rPr>
              <a:t>Apple Silicon and consumer GPUs make local inference fast and free at the margin</a:t>
            </a:r>
          </a:p>
          <a:p>
            <a:pPr>
              <a:spcAft>
                <a:spcPts val="1000"/>
              </a:spcAft>
            </a:pPr>
            <a:r>
              <a:rPr sz="1600" b="1">
                <a:solidFill>
                  <a:srgbClr val="7C3AED"/>
                </a:solidFill>
                <a:latin typeface="Arial"/>
              </a:rPr>
              <a:t>▸  </a:t>
            </a:r>
            <a:r>
              <a:rPr sz="1600" b="0">
                <a:solidFill>
                  <a:srgbClr val="1B1B1F"/>
                </a:solidFill>
                <a:latin typeface="Arial"/>
              </a:rPr>
              <a:t>Ollama / llama.cpp turned local models into a one-command install — millions of downloads</a:t>
            </a:r>
          </a:p>
          <a:p>
            <a:pPr>
              <a:spcAft>
                <a:spcPts val="1000"/>
              </a:spcAft>
            </a:pPr>
            <a:r>
              <a:rPr sz="1600" b="1">
                <a:solidFill>
                  <a:srgbClr val="7C3AED"/>
                </a:solidFill>
                <a:latin typeface="Arial"/>
              </a:rPr>
              <a:t>▸  </a:t>
            </a:r>
            <a:r>
              <a:rPr sz="1600" b="0">
                <a:solidFill>
                  <a:srgbClr val="1B1B1F"/>
                </a:solidFill>
                <a:latin typeface="Arial"/>
              </a:rPr>
              <a:t>Data-sovereignty pressure rising: EU AI Act, enterprise bans on cloud AI, rising IP concern</a:t>
            </a:r>
          </a:p>
          <a:p>
            <a:pPr>
              <a:spcAft>
                <a:spcPts val="1000"/>
              </a:spcAft>
            </a:pPr>
            <a:r>
              <a:rPr sz="1600" b="1">
                <a:solidFill>
                  <a:srgbClr val="7C3AED"/>
                </a:solidFill>
                <a:latin typeface="Arial"/>
              </a:rPr>
              <a:t>▸  </a:t>
            </a:r>
            <a:r>
              <a:rPr sz="1600" b="0">
                <a:solidFill>
                  <a:srgbClr val="1B1B1F"/>
                </a:solidFill>
                <a:latin typeface="Arial"/>
              </a:rPr>
              <a:t>Developers are the first mass adopters of AI — and the most privacy-sensitive</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3. The solution</a:t>
            </a:r>
          </a:p>
          <a:p>
            <a:r>
              <a:rPr sz="1500" b="0">
                <a:solidFill>
                  <a:srgbClr val="6B6B76"/>
                </a:solidFill>
                <a:latin typeface="Arial"/>
              </a:rPr>
              <a:t>Dobby: one workbench, six categories, all on-device</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Workspace: projects, documents, backlog, graph, mind map — your build context in one place</a:t>
            </a:r>
          </a:p>
          <a:p>
            <a:pPr>
              <a:spcAft>
                <a:spcPts val="1000"/>
              </a:spcAft>
            </a:pPr>
            <a:r>
              <a:rPr sz="1600" b="1">
                <a:solidFill>
                  <a:srgbClr val="7C3AED"/>
                </a:solidFill>
                <a:latin typeface="Arial"/>
              </a:rPr>
              <a:t>▸  </a:t>
            </a:r>
            <a:r>
              <a:rPr sz="1600" b="0">
                <a:solidFill>
                  <a:srgbClr val="1B1B1F"/>
                </a:solidFill>
                <a:latin typeface="Arial"/>
              </a:rPr>
              <a:t>Generate: Wizard, YOLO, Bulk, Prototype Builder, Video Studio</a:t>
            </a:r>
          </a:p>
          <a:p>
            <a:pPr>
              <a:spcAft>
                <a:spcPts val="1000"/>
              </a:spcAft>
            </a:pPr>
            <a:r>
              <a:rPr sz="1600" b="1">
                <a:solidFill>
                  <a:srgbClr val="7C3AED"/>
                </a:solidFill>
                <a:latin typeface="Arial"/>
              </a:rPr>
              <a:t>▸  </a:t>
            </a:r>
            <a:r>
              <a:rPr sz="1600" b="0">
                <a:solidFill>
                  <a:srgbClr val="1B1B1F"/>
                </a:solidFill>
                <a:latin typeface="Arial"/>
              </a:rPr>
              <a:t>Studio: audio transcription, YouTube → notes, AI notes from any source</a:t>
            </a:r>
          </a:p>
          <a:p>
            <a:pPr>
              <a:spcAft>
                <a:spcPts val="1000"/>
              </a:spcAft>
            </a:pPr>
            <a:r>
              <a:rPr sz="1600" b="1">
                <a:solidFill>
                  <a:srgbClr val="7C3AED"/>
                </a:solidFill>
                <a:latin typeface="Arial"/>
              </a:rPr>
              <a:t>▸  </a:t>
            </a:r>
            <a:r>
              <a:rPr sz="1600" b="0">
                <a:solidFill>
                  <a:srgbClr val="1B1B1F"/>
                </a:solidFill>
                <a:latin typeface="Arial"/>
              </a:rPr>
              <a:t>Automate: Command Center (⌘K), Skill Builder, visual Flow Builder</a:t>
            </a:r>
          </a:p>
          <a:p>
            <a:pPr>
              <a:spcAft>
                <a:spcPts val="1000"/>
              </a:spcAft>
            </a:pPr>
            <a:r>
              <a:rPr sz="1600" b="1">
                <a:solidFill>
                  <a:srgbClr val="7C3AED"/>
                </a:solidFill>
                <a:latin typeface="Arial"/>
              </a:rPr>
              <a:t>▸  </a:t>
            </a:r>
            <a:r>
              <a:rPr sz="1600" b="0">
                <a:solidFill>
                  <a:srgbClr val="1B1B1F"/>
                </a:solidFill>
                <a:latin typeface="Arial"/>
              </a:rPr>
              <a:t>System: sandboxed terminal, logs &amp; traces, control center, global semantic search</a:t>
            </a:r>
          </a:p>
          <a:p>
            <a:pPr>
              <a:spcAft>
                <a:spcPts val="1000"/>
              </a:spcAft>
            </a:pPr>
            <a:r>
              <a:rPr sz="1600" b="1">
                <a:solidFill>
                  <a:srgbClr val="7C3AED"/>
                </a:solidFill>
                <a:latin typeface="Arial"/>
              </a:rPr>
              <a:t>▸  </a:t>
            </a:r>
            <a:r>
              <a:rPr sz="1600" b="0">
                <a:solidFill>
                  <a:srgbClr val="1B1B1F"/>
                </a:solidFill>
                <a:latin typeface="Arial"/>
              </a:rPr>
              <a:t>Marketplace: install and later publish skills, flows, and apps</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4. How it works</a:t>
            </a:r>
          </a:p>
          <a:p>
            <a:r>
              <a:rPr sz="1500" b="0">
                <a:solidFill>
                  <a:srgbClr val="6B6B76"/>
                </a:solidFill>
                <a:latin typeface="Arial"/>
              </a:rPr>
              <a:t>Capture → generate → verify → automate → ship</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Local LLM (Ollama/llama.cpp) drives generation — no API keys, no per-token bill</a:t>
            </a:r>
          </a:p>
          <a:p>
            <a:pPr>
              <a:spcAft>
                <a:spcPts val="1000"/>
              </a:spcAft>
            </a:pPr>
            <a:r>
              <a:rPr sz="1600" b="1">
                <a:solidFill>
                  <a:srgbClr val="7C3AED"/>
                </a:solidFill>
                <a:latin typeface="Arial"/>
              </a:rPr>
              <a:t>▸  </a:t>
            </a:r>
            <a:r>
              <a:rPr sz="1600" b="0">
                <a:solidFill>
                  <a:srgbClr val="1B1B1F"/>
                </a:solidFill>
                <a:latin typeface="Arial"/>
              </a:rPr>
              <a:t>Deterministic verifiers check every generated doc for completeness and consistency</a:t>
            </a:r>
          </a:p>
          <a:p>
            <a:pPr>
              <a:spcAft>
                <a:spcPts val="1000"/>
              </a:spcAft>
            </a:pPr>
            <a:r>
              <a:rPr sz="1600" b="1">
                <a:solidFill>
                  <a:srgbClr val="7C3AED"/>
                </a:solidFill>
                <a:latin typeface="Arial"/>
              </a:rPr>
              <a:t>▸  </a:t>
            </a:r>
            <a:r>
              <a:rPr sz="1600" b="0">
                <a:solidFill>
                  <a:srgbClr val="1B1B1F"/>
                </a:solidFill>
                <a:latin typeface="Arial"/>
              </a:rPr>
              <a:t>SQLite stores projects, docs, and a knowledge graph — fully offline, portable</a:t>
            </a:r>
          </a:p>
          <a:p>
            <a:pPr>
              <a:spcAft>
                <a:spcPts val="1000"/>
              </a:spcAft>
            </a:pPr>
            <a:r>
              <a:rPr sz="1600" b="1">
                <a:solidFill>
                  <a:srgbClr val="7C3AED"/>
                </a:solidFill>
                <a:latin typeface="Arial"/>
              </a:rPr>
              <a:t>▸  </a:t>
            </a:r>
            <a:r>
              <a:rPr sz="1600" b="0">
                <a:solidFill>
                  <a:srgbClr val="1B1B1F"/>
                </a:solidFill>
                <a:latin typeface="Arial"/>
              </a:rPr>
              <a:t>Command Center (⌘K) orchestrates agents, tools, and skills from one palette</a:t>
            </a:r>
          </a:p>
          <a:p>
            <a:pPr>
              <a:spcAft>
                <a:spcPts val="1000"/>
              </a:spcAft>
            </a:pPr>
            <a:r>
              <a:rPr sz="1600" b="1">
                <a:solidFill>
                  <a:srgbClr val="7C3AED"/>
                </a:solidFill>
                <a:latin typeface="Arial"/>
              </a:rPr>
              <a:t>▸  </a:t>
            </a:r>
            <a:r>
              <a:rPr sz="1600" b="0">
                <a:solidFill>
                  <a:srgbClr val="1B1B1F"/>
                </a:solidFill>
                <a:latin typeface="Arial"/>
              </a:rPr>
              <a:t>Logs &amp; traces give full observability into every agent and tool run</a:t>
            </a:r>
          </a:p>
          <a:p>
            <a:pPr>
              <a:spcAft>
                <a:spcPts val="1000"/>
              </a:spcAft>
            </a:pPr>
            <a:r>
              <a:rPr sz="1600" b="1">
                <a:solidFill>
                  <a:srgbClr val="7C3AED"/>
                </a:solidFill>
                <a:latin typeface="Arial"/>
              </a:rPr>
              <a:t>▸  </a:t>
            </a:r>
            <a:r>
              <a:rPr sz="1600" b="0">
                <a:solidFill>
                  <a:srgbClr val="1B1B1F"/>
                </a:solidFill>
                <a:latin typeface="Arial"/>
              </a:rPr>
              <a:t>Tauri 2 + React front end, FastAPI back end — a fast native desktop app</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5. Live today</a:t>
            </a:r>
          </a:p>
          <a:p>
            <a:r>
              <a:rPr sz="1500" b="0">
                <a:solidFill>
                  <a:srgbClr val="6B6B76"/>
                </a:solidFill>
                <a:latin typeface="Arial"/>
              </a:rPr>
              <a:t>Shipping, not slideware</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Idea → verified engineering docs via three modes: Wizard, YOLO, and Bulk</a:t>
            </a:r>
          </a:p>
          <a:p>
            <a:pPr>
              <a:spcAft>
                <a:spcPts val="1000"/>
              </a:spcAft>
            </a:pPr>
            <a:r>
              <a:rPr sz="1600" b="1">
                <a:solidFill>
                  <a:srgbClr val="7C3AED"/>
                </a:solidFill>
                <a:latin typeface="Arial"/>
              </a:rPr>
              <a:t>▸  </a:t>
            </a:r>
            <a:r>
              <a:rPr sz="1600" b="0">
                <a:solidFill>
                  <a:srgbClr val="1B1B1F"/>
                </a:solidFill>
                <a:latin typeface="Arial"/>
              </a:rPr>
              <a:t>Deterministic verifier catches incomplete or inconsistent specs before you ship them</a:t>
            </a:r>
          </a:p>
          <a:p>
            <a:pPr>
              <a:spcAft>
                <a:spcPts val="1000"/>
              </a:spcAft>
            </a:pPr>
            <a:r>
              <a:rPr sz="1600" b="1">
                <a:solidFill>
                  <a:srgbClr val="7C3AED"/>
                </a:solidFill>
                <a:latin typeface="Arial"/>
              </a:rPr>
              <a:t>▸  </a:t>
            </a:r>
            <a:r>
              <a:rPr sz="1600" b="0">
                <a:solidFill>
                  <a:srgbClr val="1B1B1F"/>
                </a:solidFill>
                <a:latin typeface="Arial"/>
              </a:rPr>
              <a:t>Projects, backlog, knowledge graph, and doc library working end-to-end</a:t>
            </a:r>
          </a:p>
          <a:p>
            <a:pPr>
              <a:spcAft>
                <a:spcPts val="1000"/>
              </a:spcAft>
            </a:pPr>
            <a:r>
              <a:rPr sz="1600" b="1">
                <a:solidFill>
                  <a:srgbClr val="7C3AED"/>
                </a:solidFill>
                <a:latin typeface="Arial"/>
              </a:rPr>
              <a:t>▸  </a:t>
            </a:r>
            <a:r>
              <a:rPr sz="1600" b="0">
                <a:solidFill>
                  <a:srgbClr val="1B1B1F"/>
                </a:solidFill>
                <a:latin typeface="Arial"/>
              </a:rPr>
              <a:t>100% local-first: on-device LLM, SQLite, zero cloud dependency, offline-capable</a:t>
            </a:r>
          </a:p>
          <a:p>
            <a:pPr>
              <a:spcAft>
                <a:spcPts val="1000"/>
              </a:spcAft>
            </a:pPr>
            <a:r>
              <a:rPr sz="1600" b="1">
                <a:solidFill>
                  <a:srgbClr val="7C3AED"/>
                </a:solidFill>
                <a:latin typeface="Arial"/>
              </a:rPr>
              <a:t>▸  </a:t>
            </a:r>
            <a:r>
              <a:rPr sz="1600" b="0">
                <a:solidFill>
                  <a:srgbClr val="1B1B1F"/>
                </a:solidFill>
                <a:latin typeface="Arial"/>
              </a:rPr>
              <a:t>Native desktop app built on Tauri 2 + React + FastAPI</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6. Product roadmap</a:t>
            </a:r>
          </a:p>
          <a:p>
            <a:r>
              <a:rPr sz="1500" b="0">
                <a:solidFill>
                  <a:srgbClr val="6B6B76"/>
                </a:solidFill>
                <a:latin typeface="Arial"/>
              </a:rPr>
              <a:t>13 features across 6 phases, ~12 months</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P1 (Mo 1–2) Foundations: categorized UI, Global Search, Command Center, Logs &amp; Traces</a:t>
            </a:r>
          </a:p>
          <a:p>
            <a:pPr>
              <a:spcAft>
                <a:spcPts val="1000"/>
              </a:spcAft>
            </a:pPr>
            <a:r>
              <a:rPr sz="1600" b="1">
                <a:solidFill>
                  <a:srgbClr val="7C3AED"/>
                </a:solidFill>
                <a:latin typeface="Arial"/>
              </a:rPr>
              <a:t>▸  </a:t>
            </a:r>
            <a:r>
              <a:rPr sz="1600" b="0">
                <a:solidFill>
                  <a:srgbClr val="1B1B1F"/>
                </a:solidFill>
                <a:latin typeface="Arial"/>
              </a:rPr>
              <a:t>P2 (Mo 3–4) Capture Studio: sandboxed Terminal, Audio Transcription, YouTube→Notes, Notes Builder</a:t>
            </a:r>
          </a:p>
          <a:p>
            <a:pPr>
              <a:spcAft>
                <a:spcPts val="1000"/>
              </a:spcAft>
            </a:pPr>
            <a:r>
              <a:rPr sz="1600" b="1">
                <a:solidFill>
                  <a:srgbClr val="7C3AED"/>
                </a:solidFill>
                <a:latin typeface="Arial"/>
              </a:rPr>
              <a:t>▸  </a:t>
            </a:r>
            <a:r>
              <a:rPr sz="1600" b="0">
                <a:solidFill>
                  <a:srgbClr val="1B1B1F"/>
                </a:solidFill>
                <a:latin typeface="Arial"/>
              </a:rPr>
              <a:t>P3 (Mo 5–6) Automation: Skill Builder, Flow Builder, Control Center</a:t>
            </a:r>
          </a:p>
          <a:p>
            <a:pPr>
              <a:spcAft>
                <a:spcPts val="1000"/>
              </a:spcAft>
            </a:pPr>
            <a:r>
              <a:rPr sz="1600" b="1">
                <a:solidFill>
                  <a:srgbClr val="7C3AED"/>
                </a:solidFill>
                <a:latin typeface="Arial"/>
              </a:rPr>
              <a:t>▸  </a:t>
            </a:r>
            <a:r>
              <a:rPr sz="1600" b="0">
                <a:solidFill>
                  <a:srgbClr val="1B1B1F"/>
                </a:solidFill>
                <a:latin typeface="Arial"/>
              </a:rPr>
              <a:t>P4 (Mo 7–8) Build &amp; Generate: Prototype Builder + Test, Video Generation</a:t>
            </a:r>
          </a:p>
          <a:p>
            <a:pPr>
              <a:spcAft>
                <a:spcPts val="1000"/>
              </a:spcAft>
            </a:pPr>
            <a:r>
              <a:rPr sz="1600" b="1">
                <a:solidFill>
                  <a:srgbClr val="7C3AED"/>
                </a:solidFill>
                <a:latin typeface="Arial"/>
              </a:rPr>
              <a:t>▸  </a:t>
            </a:r>
            <a:r>
              <a:rPr sz="1600" b="0">
                <a:solidFill>
                  <a:srgbClr val="1B1B1F"/>
                </a:solidFill>
                <a:latin typeface="Arial"/>
              </a:rPr>
              <a:t>P5 (Mo 9–10) Local Marketplace: install/manage skills, flows, apps + SDK</a:t>
            </a:r>
          </a:p>
          <a:p>
            <a:pPr>
              <a:spcAft>
                <a:spcPts val="1000"/>
              </a:spcAft>
            </a:pPr>
            <a:r>
              <a:rPr sz="1600" b="1">
                <a:solidFill>
                  <a:srgbClr val="7C3AED"/>
                </a:solidFill>
                <a:latin typeface="Arial"/>
              </a:rPr>
              <a:t>▸  </a:t>
            </a:r>
            <a:r>
              <a:rPr sz="1600" b="0">
                <a:solidFill>
                  <a:srgbClr val="1B1B1F"/>
                </a:solidFill>
                <a:latin typeface="Arial"/>
              </a:rPr>
              <a:t>P6 (Mo 11–12) Publish &amp; Cloud: shared marketplace, sync, monetization rails</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7. Market</a:t>
            </a:r>
          </a:p>
          <a:p>
            <a:r>
              <a:rPr sz="1500" b="0">
                <a:solidFill>
                  <a:srgbClr val="6B6B76"/>
                </a:solidFill>
                <a:latin typeface="Arial"/>
              </a:rPr>
              <a:t>Riding developer tools into the AI era</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TAM: ~$40B+ global developer &amp; AI dev-tools market, growing ~25% annually</a:t>
            </a:r>
          </a:p>
          <a:p>
            <a:pPr>
              <a:spcAft>
                <a:spcPts val="1000"/>
              </a:spcAft>
            </a:pPr>
            <a:r>
              <a:rPr sz="1600" b="1">
                <a:solidFill>
                  <a:srgbClr val="7C3AED"/>
                </a:solidFill>
                <a:latin typeface="Arial"/>
              </a:rPr>
              <a:t>▸  </a:t>
            </a:r>
            <a:r>
              <a:rPr sz="1600" b="0">
                <a:solidFill>
                  <a:srgbClr val="1B1B1F"/>
                </a:solidFill>
                <a:latin typeface="Arial"/>
              </a:rPr>
              <a:t>SAM: ~$8B — AI-assisted development and productivity tools for individual builders and small teams</a:t>
            </a:r>
          </a:p>
          <a:p>
            <a:pPr>
              <a:spcAft>
                <a:spcPts val="1000"/>
              </a:spcAft>
            </a:pPr>
            <a:r>
              <a:rPr sz="1600" b="1">
                <a:solidFill>
                  <a:srgbClr val="7C3AED"/>
                </a:solidFill>
                <a:latin typeface="Arial"/>
              </a:rPr>
              <a:t>▸  </a:t>
            </a:r>
            <a:r>
              <a:rPr sz="1600" b="0">
                <a:solidFill>
                  <a:srgbClr val="1B1B1F"/>
                </a:solidFill>
                <a:latin typeface="Arial"/>
              </a:rPr>
              <a:t>SOM: ~$300M — privacy-conscious devs, indie hackers, and regulated teams in 3–4 years</a:t>
            </a:r>
          </a:p>
          <a:p>
            <a:pPr>
              <a:spcAft>
                <a:spcPts val="1000"/>
              </a:spcAft>
            </a:pPr>
            <a:r>
              <a:rPr sz="1600" b="1">
                <a:solidFill>
                  <a:srgbClr val="7C3AED"/>
                </a:solidFill>
                <a:latin typeface="Arial"/>
              </a:rPr>
              <a:t>▸  </a:t>
            </a:r>
            <a:r>
              <a:rPr sz="1600" b="0">
                <a:solidFill>
                  <a:srgbClr val="1B1B1F"/>
                </a:solidFill>
                <a:latin typeface="Arial"/>
              </a:rPr>
              <a:t>30M+ developers worldwide; local-model runtimes already have millions of installs</a:t>
            </a:r>
          </a:p>
          <a:p>
            <a:pPr>
              <a:spcAft>
                <a:spcPts val="1000"/>
              </a:spcAft>
            </a:pPr>
            <a:r>
              <a:rPr sz="1600" b="1">
                <a:solidFill>
                  <a:srgbClr val="7C3AED"/>
                </a:solidFill>
                <a:latin typeface="Arial"/>
              </a:rPr>
              <a:t>▸  </a:t>
            </a:r>
            <a:r>
              <a:rPr sz="1600" b="0">
                <a:solidFill>
                  <a:srgbClr val="1B1B1F"/>
                </a:solidFill>
                <a:latin typeface="Arial"/>
              </a:rPr>
              <a:t>Beachhead: solo founders and indie developers who already run local models</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8. Competition</a:t>
            </a:r>
          </a:p>
          <a:p>
            <a:r>
              <a:rPr sz="1500" b="0">
                <a:solidFill>
                  <a:srgbClr val="6B6B76"/>
                </a:solidFill>
                <a:latin typeface="Arial"/>
              </a:rPr>
              <a:t>Cloud-bound point tools vs. a local-first workbench</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Cloud AI IDEs (Cursor, Copilot): powerful but cloud-only — your code leaves your machine</a:t>
            </a:r>
          </a:p>
          <a:p>
            <a:pPr>
              <a:spcAft>
                <a:spcPts val="1000"/>
              </a:spcAft>
            </a:pPr>
            <a:r>
              <a:rPr sz="1600" b="1">
                <a:solidFill>
                  <a:srgbClr val="7C3AED"/>
                </a:solidFill>
                <a:latin typeface="Arial"/>
              </a:rPr>
              <a:t>▸  </a:t>
            </a:r>
            <a:r>
              <a:rPr sz="1600" b="0">
                <a:solidFill>
                  <a:srgbClr val="1B1B1F"/>
                </a:solidFill>
                <a:latin typeface="Arial"/>
              </a:rPr>
              <a:t>Cloud AI apps (Notion AI, ChatGPT): general, not builder-workflow, and fully hosted</a:t>
            </a:r>
          </a:p>
          <a:p>
            <a:pPr>
              <a:spcAft>
                <a:spcPts val="1000"/>
              </a:spcAft>
            </a:pPr>
            <a:r>
              <a:rPr sz="1600" b="1">
                <a:solidFill>
                  <a:srgbClr val="7C3AED"/>
                </a:solidFill>
                <a:latin typeface="Arial"/>
              </a:rPr>
              <a:t>▸  </a:t>
            </a:r>
            <a:r>
              <a:rPr sz="1600" b="0">
                <a:solidFill>
                  <a:srgbClr val="1B1B1F"/>
                </a:solidFill>
                <a:latin typeface="Arial"/>
              </a:rPr>
              <a:t>Local runtimes (Ollama, LM Studio): private but raw — no workflow, no verification, no automation</a:t>
            </a:r>
          </a:p>
          <a:p>
            <a:pPr>
              <a:spcAft>
                <a:spcPts val="1000"/>
              </a:spcAft>
            </a:pPr>
            <a:r>
              <a:rPr sz="1600" b="1">
                <a:solidFill>
                  <a:srgbClr val="7C3AED"/>
                </a:solidFill>
                <a:latin typeface="Arial"/>
              </a:rPr>
              <a:t>▸  </a:t>
            </a:r>
            <a:r>
              <a:rPr sz="1600" b="0">
                <a:solidFill>
                  <a:srgbClr val="1B1B1F"/>
                </a:solidFill>
                <a:latin typeface="Arial"/>
              </a:rPr>
              <a:t>Automation tools (Zapier, n8n): cloud-hosted, not AI-native, not on-device</a:t>
            </a:r>
          </a:p>
          <a:p>
            <a:pPr>
              <a:spcAft>
                <a:spcPts val="1000"/>
              </a:spcAft>
            </a:pPr>
            <a:r>
              <a:rPr sz="1600" b="1">
                <a:solidFill>
                  <a:srgbClr val="7C3AED"/>
                </a:solidFill>
                <a:latin typeface="Arial"/>
              </a:rPr>
              <a:t>▸  </a:t>
            </a:r>
            <a:r>
              <a:rPr sz="1600" b="0">
                <a:solidFill>
                  <a:srgbClr val="1B1B1F"/>
                </a:solidFill>
                <a:latin typeface="Arial"/>
              </a:rPr>
              <a:t>Dobby is the only local-first, verified, end-to-end builder workbench in the top-right quadrant</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9. Differentiation &amp; moat</a:t>
            </a:r>
          </a:p>
          <a:p>
            <a:r>
              <a:rPr sz="1500" b="0">
                <a:solidFill>
                  <a:srgbClr val="6B6B76"/>
                </a:solidFill>
                <a:latin typeface="Arial"/>
              </a:rPr>
              <a:t>Local-first architecture plus a marketplace flywheel</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Local-first is architectural, not a toggle — hard to retrofit for cloud-native incumbents</a:t>
            </a:r>
          </a:p>
          <a:p>
            <a:pPr>
              <a:spcAft>
                <a:spcPts val="1000"/>
              </a:spcAft>
            </a:pPr>
            <a:r>
              <a:rPr sz="1600" b="1">
                <a:solidFill>
                  <a:srgbClr val="7C3AED"/>
                </a:solidFill>
                <a:latin typeface="Arial"/>
              </a:rPr>
              <a:t>▸  </a:t>
            </a:r>
            <a:r>
              <a:rPr sz="1600" b="0">
                <a:solidFill>
                  <a:srgbClr val="1B1B1F"/>
                </a:solidFill>
                <a:latin typeface="Arial"/>
              </a:rPr>
              <a:t>Deterministic verification layer turns AI output into trustworthy, auditable artifacts</a:t>
            </a:r>
          </a:p>
          <a:p>
            <a:pPr>
              <a:spcAft>
                <a:spcPts val="1000"/>
              </a:spcAft>
            </a:pPr>
            <a:r>
              <a:rPr sz="1600" b="1">
                <a:solidFill>
                  <a:srgbClr val="7C3AED"/>
                </a:solidFill>
                <a:latin typeface="Arial"/>
              </a:rPr>
              <a:t>▸  </a:t>
            </a:r>
            <a:r>
              <a:rPr sz="1600" b="0">
                <a:solidFill>
                  <a:srgbClr val="1B1B1F"/>
                </a:solidFill>
                <a:latin typeface="Arial"/>
              </a:rPr>
              <a:t>Bring-your-own-model: no per-token costs, no vendor lock-in, future-proof against model churn</a:t>
            </a:r>
          </a:p>
          <a:p>
            <a:pPr>
              <a:spcAft>
                <a:spcPts val="1000"/>
              </a:spcAft>
            </a:pPr>
            <a:r>
              <a:rPr sz="1600" b="1">
                <a:solidFill>
                  <a:srgbClr val="7C3AED"/>
                </a:solidFill>
                <a:latin typeface="Arial"/>
              </a:rPr>
              <a:t>▸  </a:t>
            </a:r>
            <a:r>
              <a:rPr sz="1600" b="0">
                <a:solidFill>
                  <a:srgbClr val="1B1B1F"/>
                </a:solidFill>
                <a:latin typeface="Arial"/>
              </a:rPr>
              <a:t>Marketplace flywheel: creators publish skills/flows/apps → more users → more creators</a:t>
            </a:r>
          </a:p>
          <a:p>
            <a:pPr>
              <a:spcAft>
                <a:spcPts val="1000"/>
              </a:spcAft>
            </a:pPr>
            <a:r>
              <a:rPr sz="1600" b="1">
                <a:solidFill>
                  <a:srgbClr val="7C3AED"/>
                </a:solidFill>
                <a:latin typeface="Arial"/>
              </a:rPr>
              <a:t>▸  </a:t>
            </a:r>
            <a:r>
              <a:rPr sz="1600" b="0">
                <a:solidFill>
                  <a:srgbClr val="1B1B1F"/>
                </a:solidFill>
                <a:latin typeface="Arial"/>
              </a:rPr>
              <a:t>Data ownership as trust: the more a builder invests, the higher the switching cost</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10. Business model</a:t>
            </a:r>
          </a:p>
          <a:p>
            <a:r>
              <a:rPr sz="1500" b="0">
                <a:solidFill>
                  <a:srgbClr val="6B6B76"/>
                </a:solidFill>
                <a:latin typeface="Arial"/>
              </a:rPr>
              <a:t>Freemium base, paid tiers, marketplace take-rate</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Free: full local-first core — drives adoption and the top of funnel</a:t>
            </a:r>
          </a:p>
          <a:p>
            <a:pPr>
              <a:spcAft>
                <a:spcPts val="1000"/>
              </a:spcAft>
            </a:pPr>
            <a:r>
              <a:rPr sz="1600" b="1">
                <a:solidFill>
                  <a:srgbClr val="7C3AED"/>
                </a:solidFill>
                <a:latin typeface="Arial"/>
              </a:rPr>
              <a:t>▸  </a:t>
            </a:r>
            <a:r>
              <a:rPr sz="1600" b="0">
                <a:solidFill>
                  <a:srgbClr val="1B1B1F"/>
                </a:solidFill>
                <a:latin typeface="Arial"/>
              </a:rPr>
              <a:t>Pro (~$20/mo): advanced generation, automation, unlimited flows and skills</a:t>
            </a:r>
          </a:p>
          <a:p>
            <a:pPr>
              <a:spcAft>
                <a:spcPts val="1000"/>
              </a:spcAft>
            </a:pPr>
            <a:r>
              <a:rPr sz="1600" b="1">
                <a:solidFill>
                  <a:srgbClr val="7C3AED"/>
                </a:solidFill>
                <a:latin typeface="Arial"/>
              </a:rPr>
              <a:t>▸  </a:t>
            </a:r>
            <a:r>
              <a:rPr sz="1600" b="0">
                <a:solidFill>
                  <a:srgbClr val="1B1B1F"/>
                </a:solidFill>
                <a:latin typeface="Arial"/>
              </a:rPr>
              <a:t>Team (~$40/user/mo): shared workspaces, control center, admin, priority support</a:t>
            </a:r>
          </a:p>
          <a:p>
            <a:pPr>
              <a:spcAft>
                <a:spcPts val="1000"/>
              </a:spcAft>
            </a:pPr>
            <a:r>
              <a:rPr sz="1600" b="1">
                <a:solidFill>
                  <a:srgbClr val="7C3AED"/>
                </a:solidFill>
                <a:latin typeface="Arial"/>
              </a:rPr>
              <a:t>▸  </a:t>
            </a:r>
            <a:r>
              <a:rPr sz="1600" b="0">
                <a:solidFill>
                  <a:srgbClr val="1B1B1F"/>
                </a:solidFill>
                <a:latin typeface="Arial"/>
              </a:rPr>
              <a:t>Marketplace: 15–20% take-rate on paid skills, flows, and apps (P6)</a:t>
            </a:r>
          </a:p>
          <a:p>
            <a:pPr>
              <a:spcAft>
                <a:spcPts val="1000"/>
              </a:spcAft>
            </a:pPr>
            <a:r>
              <a:rPr sz="1600" b="1">
                <a:solidFill>
                  <a:srgbClr val="7C3AED"/>
                </a:solidFill>
                <a:latin typeface="Arial"/>
              </a:rPr>
              <a:t>▸  </a:t>
            </a:r>
            <a:r>
              <a:rPr sz="1600" b="0">
                <a:solidFill>
                  <a:srgbClr val="1B1B1F"/>
                </a:solidFill>
                <a:latin typeface="Arial"/>
              </a:rPr>
              <a:t>Enterprise: private deployment and compliance for regulated, air-gapped teams</a:t>
            </a:r>
          </a:p>
          <a:p>
            <a:pPr>
              <a:spcAft>
                <a:spcPts val="1000"/>
              </a:spcAft>
            </a:pPr>
            <a:r>
              <a:rPr sz="1600" b="1">
                <a:solidFill>
                  <a:srgbClr val="7C3AED"/>
                </a:solidFill>
                <a:latin typeface="Arial"/>
              </a:rPr>
              <a:t>▸  </a:t>
            </a:r>
            <a:r>
              <a:rPr sz="1600" b="0">
                <a:solidFill>
                  <a:srgbClr val="1B1B1F"/>
                </a:solidFill>
                <a:latin typeface="Arial"/>
              </a:rPr>
              <a:t>Zero inference cost to us — compute runs on the user's device, so gross margins stay high</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11. Go-to-market</a:t>
            </a:r>
          </a:p>
          <a:p>
            <a:r>
              <a:rPr sz="1500" b="0">
                <a:solidFill>
                  <a:srgbClr val="6B6B76"/>
                </a:solidFill>
                <a:latin typeface="Arial"/>
              </a:rPr>
              <a:t>Bottom-up, developer-led, community-first</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Land with the local-model community: Ollama/llama.cpp users, r/LocalLLaMA, HN, GitHub</a:t>
            </a:r>
          </a:p>
          <a:p>
            <a:pPr>
              <a:spcAft>
                <a:spcPts val="1000"/>
              </a:spcAft>
            </a:pPr>
            <a:r>
              <a:rPr sz="1600" b="1">
                <a:solidFill>
                  <a:srgbClr val="7C3AED"/>
                </a:solidFill>
                <a:latin typeface="Arial"/>
              </a:rPr>
              <a:t>▸  </a:t>
            </a:r>
            <a:r>
              <a:rPr sz="1600" b="0">
                <a:solidFill>
                  <a:srgbClr val="1B1B1F"/>
                </a:solidFill>
                <a:latin typeface="Arial"/>
              </a:rPr>
              <a:t>Open-core and content-led growth — developers try before they buy</a:t>
            </a:r>
          </a:p>
          <a:p>
            <a:pPr>
              <a:spcAft>
                <a:spcPts val="1000"/>
              </a:spcAft>
            </a:pPr>
            <a:r>
              <a:rPr sz="1600" b="1">
                <a:solidFill>
                  <a:srgbClr val="7C3AED"/>
                </a:solidFill>
                <a:latin typeface="Arial"/>
              </a:rPr>
              <a:t>▸  </a:t>
            </a:r>
            <a:r>
              <a:rPr sz="1600" b="0">
                <a:solidFill>
                  <a:srgbClr val="1B1B1F"/>
                </a:solidFill>
                <a:latin typeface="Arial"/>
              </a:rPr>
              <a:t>Product-led: free tier drives adoption; Pro upsell on power features</a:t>
            </a:r>
          </a:p>
          <a:p>
            <a:pPr>
              <a:spcAft>
                <a:spcPts val="1000"/>
              </a:spcAft>
            </a:pPr>
            <a:r>
              <a:rPr sz="1600" b="1">
                <a:solidFill>
                  <a:srgbClr val="7C3AED"/>
                </a:solidFill>
                <a:latin typeface="Arial"/>
              </a:rPr>
              <a:t>▸  </a:t>
            </a:r>
            <a:r>
              <a:rPr sz="1600" b="0">
                <a:solidFill>
                  <a:srgbClr val="1B1B1F"/>
                </a:solidFill>
                <a:latin typeface="Arial"/>
              </a:rPr>
              <a:t>Marketplace turns users into creators and creators into a distribution channel</a:t>
            </a:r>
          </a:p>
          <a:p>
            <a:pPr>
              <a:spcAft>
                <a:spcPts val="1000"/>
              </a:spcAft>
            </a:pPr>
            <a:r>
              <a:rPr sz="1600" b="1">
                <a:solidFill>
                  <a:srgbClr val="7C3AED"/>
                </a:solidFill>
                <a:latin typeface="Arial"/>
              </a:rPr>
              <a:t>▸  </a:t>
            </a:r>
            <a:r>
              <a:rPr sz="1600" b="0">
                <a:solidFill>
                  <a:srgbClr val="1B1B1F"/>
                </a:solidFill>
                <a:latin typeface="Arial"/>
              </a:rPr>
              <a:t>Expand from solo builders → small teams → regulated enterprises</a:t>
            </a:r>
          </a:p>
          <a:p>
            <a:pPr>
              <a:spcAft>
                <a:spcPts val="1000"/>
              </a:spcAft>
            </a:pPr>
            <a:r>
              <a:rPr sz="1600" b="1">
                <a:solidFill>
                  <a:srgbClr val="7C3AED"/>
                </a:solidFill>
                <a:latin typeface="Arial"/>
              </a:rPr>
              <a:t>▸  </a:t>
            </a:r>
            <a:r>
              <a:rPr sz="1600" b="0">
                <a:solidFill>
                  <a:srgbClr val="1B1B1F"/>
                </a:solidFill>
                <a:latin typeface="Arial"/>
              </a:rPr>
              <a:t>Design-partner enterprises early to shape private-deployment offering</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12. Traction plan</a:t>
            </a:r>
          </a:p>
          <a:p>
            <a:r>
              <a:rPr sz="1500" b="0">
                <a:solidFill>
                  <a:srgbClr val="6B6B76"/>
                </a:solidFill>
                <a:latin typeface="Arial"/>
              </a:rPr>
              <a:t>12-month milestones</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Mo 3: P1 &amp; P2 shipped; 5,000 installs; 500 weekly active builders</a:t>
            </a:r>
          </a:p>
          <a:p>
            <a:pPr>
              <a:spcAft>
                <a:spcPts val="1000"/>
              </a:spcAft>
            </a:pPr>
            <a:r>
              <a:rPr sz="1600" b="1">
                <a:solidFill>
                  <a:srgbClr val="7C3AED"/>
                </a:solidFill>
                <a:latin typeface="Arial"/>
              </a:rPr>
              <a:t>▸  </a:t>
            </a:r>
            <a:r>
              <a:rPr sz="1600" b="0">
                <a:solidFill>
                  <a:srgbClr val="1B1B1F"/>
                </a:solidFill>
                <a:latin typeface="Arial"/>
              </a:rPr>
              <a:t>Mo 6: Automation live (P3); 20,000 installs; first 500 paying Pro users</a:t>
            </a:r>
          </a:p>
          <a:p>
            <a:pPr>
              <a:spcAft>
                <a:spcPts val="1000"/>
              </a:spcAft>
            </a:pPr>
            <a:r>
              <a:rPr sz="1600" b="1">
                <a:solidFill>
                  <a:srgbClr val="7C3AED"/>
                </a:solidFill>
                <a:latin typeface="Arial"/>
              </a:rPr>
              <a:t>▸  </a:t>
            </a:r>
            <a:r>
              <a:rPr sz="1600" b="0">
                <a:solidFill>
                  <a:srgbClr val="1B1B1F"/>
                </a:solidFill>
                <a:latin typeface="Arial"/>
              </a:rPr>
              <a:t>Mo 9: Prototype Builder + local Marketplace (P4–P5); 50,000 installs; $30K MRR</a:t>
            </a:r>
          </a:p>
          <a:p>
            <a:pPr>
              <a:spcAft>
                <a:spcPts val="1000"/>
              </a:spcAft>
            </a:pPr>
            <a:r>
              <a:rPr sz="1600" b="1">
                <a:solidFill>
                  <a:srgbClr val="7C3AED"/>
                </a:solidFill>
                <a:latin typeface="Arial"/>
              </a:rPr>
              <a:t>▸  </a:t>
            </a:r>
            <a:r>
              <a:rPr sz="1600" b="0">
                <a:solidFill>
                  <a:srgbClr val="1B1B1F"/>
                </a:solidFill>
                <a:latin typeface="Arial"/>
              </a:rPr>
              <a:t>Mo 12: Publish &amp; Cloud (P6); 100,000 installs; 3,000 paid seats; ~$75K MRR</a:t>
            </a:r>
          </a:p>
          <a:p>
            <a:pPr>
              <a:spcAft>
                <a:spcPts val="1000"/>
              </a:spcAft>
            </a:pPr>
            <a:r>
              <a:rPr sz="1600" b="1">
                <a:solidFill>
                  <a:srgbClr val="7C3AED"/>
                </a:solidFill>
                <a:latin typeface="Arial"/>
              </a:rPr>
              <a:t>▸  </a:t>
            </a:r>
            <a:r>
              <a:rPr sz="1600" b="0">
                <a:solidFill>
                  <a:srgbClr val="1B1B1F"/>
                </a:solidFill>
                <a:latin typeface="Arial"/>
              </a:rPr>
              <a:t>Marketplace: 100+ published skills/flows by month 12</a:t>
            </a:r>
          </a:p>
          <a:p>
            <a:pPr>
              <a:spcAft>
                <a:spcPts val="1000"/>
              </a:spcAft>
            </a:pPr>
            <a:r>
              <a:rPr sz="1600" b="1">
                <a:solidFill>
                  <a:srgbClr val="7C3AED"/>
                </a:solidFill>
                <a:latin typeface="Arial"/>
              </a:rPr>
              <a:t>▸  </a:t>
            </a:r>
            <a:r>
              <a:rPr sz="1600" b="0">
                <a:solidFill>
                  <a:srgbClr val="1B1B1F"/>
                </a:solidFill>
                <a:latin typeface="Arial"/>
              </a:rPr>
              <a:t>3–5 enterprise design partners signed for private deployment</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13. Team &amp; hiring</a:t>
            </a:r>
          </a:p>
          <a:p>
            <a:r>
              <a:rPr sz="1500" b="0">
                <a:solidFill>
                  <a:srgbClr val="6B6B76"/>
                </a:solidFill>
                <a:latin typeface="Arial"/>
              </a:rPr>
              <a:t>Builders building for builders</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Founder-led, shipping product — verified doc-gen and local-first core already live</a:t>
            </a:r>
          </a:p>
          <a:p>
            <a:pPr>
              <a:spcAft>
                <a:spcPts val="1000"/>
              </a:spcAft>
            </a:pPr>
            <a:r>
              <a:rPr sz="1600" b="1">
                <a:solidFill>
                  <a:srgbClr val="7C3AED"/>
                </a:solidFill>
                <a:latin typeface="Arial"/>
              </a:rPr>
              <a:t>▸  </a:t>
            </a:r>
            <a:r>
              <a:rPr sz="1600" b="0">
                <a:solidFill>
                  <a:srgbClr val="1B1B1F"/>
                </a:solidFill>
                <a:latin typeface="Arial"/>
              </a:rPr>
              <a:t>Deep expertise in local LLM inference, desktop apps (Tauri/Rust), and dev tooling</a:t>
            </a:r>
          </a:p>
          <a:p>
            <a:pPr>
              <a:spcAft>
                <a:spcPts val="1000"/>
              </a:spcAft>
            </a:pPr>
            <a:r>
              <a:rPr sz="1600" b="1">
                <a:solidFill>
                  <a:srgbClr val="7C3AED"/>
                </a:solidFill>
                <a:latin typeface="Arial"/>
              </a:rPr>
              <a:t>▸  </a:t>
            </a:r>
            <a:r>
              <a:rPr sz="1600" b="0">
                <a:solidFill>
                  <a:srgbClr val="1B1B1F"/>
                </a:solidFill>
                <a:latin typeface="Arial"/>
              </a:rPr>
              <a:t>Seed hires: 2 senior full-stack, 1 ML/inference engineer, 1 DevRel/community lead</a:t>
            </a:r>
          </a:p>
          <a:p>
            <a:pPr>
              <a:spcAft>
                <a:spcPts val="1000"/>
              </a:spcAft>
            </a:pPr>
            <a:r>
              <a:rPr sz="1600" b="1">
                <a:solidFill>
                  <a:srgbClr val="7C3AED"/>
                </a:solidFill>
                <a:latin typeface="Arial"/>
              </a:rPr>
              <a:t>▸  </a:t>
            </a:r>
            <a:r>
              <a:rPr sz="1600" b="0">
                <a:solidFill>
                  <a:srgbClr val="1B1B1F"/>
                </a:solidFill>
                <a:latin typeface="Arial"/>
              </a:rPr>
              <a:t>Lean by design — on-device architecture means no infra/inference team to fund</a:t>
            </a:r>
          </a:p>
          <a:p>
            <a:pPr>
              <a:spcAft>
                <a:spcPts val="1000"/>
              </a:spcAft>
            </a:pPr>
            <a:r>
              <a:rPr sz="1600" b="1">
                <a:solidFill>
                  <a:srgbClr val="7C3AED"/>
                </a:solidFill>
                <a:latin typeface="Arial"/>
              </a:rPr>
              <a:t>▸  </a:t>
            </a:r>
            <a:r>
              <a:rPr sz="1600" b="0">
                <a:solidFill>
                  <a:srgbClr val="1B1B1F"/>
                </a:solidFill>
                <a:latin typeface="Arial"/>
              </a:rPr>
              <a:t>Advisors targeted across open-source AI, dev-tools GTM, and marketplace platforms</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14. The ask</a:t>
            </a:r>
          </a:p>
          <a:p>
            <a:r>
              <a:rPr sz="1500" b="0">
                <a:solidFill>
                  <a:srgbClr val="6B6B76"/>
                </a:solidFill>
                <a:latin typeface="Arial"/>
              </a:rPr>
              <a:t>Raising $2M seed — ~24 months runway</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Raising $2M to execute the 12-month roadmap and open the marketplace</a:t>
            </a:r>
          </a:p>
          <a:p>
            <a:pPr>
              <a:spcAft>
                <a:spcPts val="1000"/>
              </a:spcAft>
            </a:pPr>
            <a:r>
              <a:rPr sz="1600" b="1">
                <a:solidFill>
                  <a:srgbClr val="7C3AED"/>
                </a:solidFill>
                <a:latin typeface="Arial"/>
              </a:rPr>
              <a:t>▸  </a:t>
            </a:r>
            <a:r>
              <a:rPr sz="1600" b="0">
                <a:solidFill>
                  <a:srgbClr val="1B1B1F"/>
                </a:solidFill>
                <a:latin typeface="Arial"/>
              </a:rPr>
              <a:t>~50% engineering &amp; product (roadmap P1–P6)</a:t>
            </a:r>
          </a:p>
          <a:p>
            <a:pPr>
              <a:spcAft>
                <a:spcPts val="1000"/>
              </a:spcAft>
            </a:pPr>
            <a:r>
              <a:rPr sz="1600" b="1">
                <a:solidFill>
                  <a:srgbClr val="7C3AED"/>
                </a:solidFill>
                <a:latin typeface="Arial"/>
              </a:rPr>
              <a:t>▸  </a:t>
            </a:r>
            <a:r>
              <a:rPr sz="1600" b="0">
                <a:solidFill>
                  <a:srgbClr val="1B1B1F"/>
                </a:solidFill>
                <a:latin typeface="Arial"/>
              </a:rPr>
              <a:t>~25% developer relations, community, and content-led growth</a:t>
            </a:r>
          </a:p>
          <a:p>
            <a:pPr>
              <a:spcAft>
                <a:spcPts val="1000"/>
              </a:spcAft>
            </a:pPr>
            <a:r>
              <a:rPr sz="1600" b="1">
                <a:solidFill>
                  <a:srgbClr val="7C3AED"/>
                </a:solidFill>
                <a:latin typeface="Arial"/>
              </a:rPr>
              <a:t>▸  </a:t>
            </a:r>
            <a:r>
              <a:rPr sz="1600" b="0">
                <a:solidFill>
                  <a:srgbClr val="1B1B1F"/>
                </a:solidFill>
                <a:latin typeface="Arial"/>
              </a:rPr>
              <a:t>~15% enterprise design partners and private-deployment offering</a:t>
            </a:r>
          </a:p>
          <a:p>
            <a:pPr>
              <a:spcAft>
                <a:spcPts val="1000"/>
              </a:spcAft>
            </a:pPr>
            <a:r>
              <a:rPr sz="1600" b="1">
                <a:solidFill>
                  <a:srgbClr val="7C3AED"/>
                </a:solidFill>
                <a:latin typeface="Arial"/>
              </a:rPr>
              <a:t>▸  </a:t>
            </a:r>
            <a:r>
              <a:rPr sz="1600" b="0">
                <a:solidFill>
                  <a:srgbClr val="1B1B1F"/>
                </a:solidFill>
                <a:latin typeface="Arial"/>
              </a:rPr>
              <a:t>~10% operations and G&amp;A</a:t>
            </a:r>
          </a:p>
          <a:p>
            <a:pPr>
              <a:spcAft>
                <a:spcPts val="1000"/>
              </a:spcAft>
            </a:pPr>
            <a:r>
              <a:rPr sz="1600" b="1">
                <a:solidFill>
                  <a:srgbClr val="7C3AED"/>
                </a:solidFill>
                <a:latin typeface="Arial"/>
              </a:rPr>
              <a:t>▸  </a:t>
            </a:r>
            <a:r>
              <a:rPr sz="1600" b="0">
                <a:solidFill>
                  <a:srgbClr val="1B1B1F"/>
                </a:solidFill>
                <a:latin typeface="Arial"/>
              </a:rPr>
              <a:t>Milestone: reach ~$75K MRR and a live marketplace to raise a strong Series A</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1155680" cy="1097280"/>
          </a:xfrm>
          <a:prstGeom prst="rect">
            <a:avLst/>
          </a:prstGeom>
          <a:noFill/>
        </p:spPr>
        <p:txBody>
          <a:bodyPr wrap="square">
            <a:spAutoFit/>
          </a:bodyPr>
          <a:lstStyle/>
          <a:p>
            <a:r>
              <a:rPr sz="3000" b="1">
                <a:solidFill>
                  <a:srgbClr val="4C1D95"/>
                </a:solidFill>
                <a:latin typeface="Arial"/>
              </a:rPr>
              <a:t>15. The vision</a:t>
            </a:r>
          </a:p>
          <a:p>
            <a:r>
              <a:rPr sz="1500" b="0">
                <a:solidFill>
                  <a:srgbClr val="6B6B76"/>
                </a:solidFill>
                <a:latin typeface="Arial"/>
              </a:rPr>
              <a:t>The operating system for builders — private, offline, extensible</a:t>
            </a:r>
          </a:p>
        </p:txBody>
      </p:sp>
      <p:sp>
        <p:nvSpPr>
          <p:cNvPr id="4" name="TextBox 3"/>
          <p:cNvSpPr txBox="1"/>
          <p:nvPr/>
        </p:nvSpPr>
        <p:spPr>
          <a:xfrm>
            <a:off x="777240" y="1828800"/>
            <a:ext cx="10881360" cy="4297680"/>
          </a:xfrm>
          <a:prstGeom prst="rect">
            <a:avLst/>
          </a:prstGeom>
          <a:noFill/>
        </p:spPr>
        <p:txBody>
          <a:bodyPr wrap="square">
            <a:spAutoFit/>
          </a:bodyPr>
          <a:lstStyle/>
          <a:p>
            <a:pPr>
              <a:spcAft>
                <a:spcPts val="1000"/>
              </a:spcAft>
            </a:pPr>
            <a:r>
              <a:rPr sz="1600" b="1">
                <a:solidFill>
                  <a:srgbClr val="7C3AED"/>
                </a:solidFill>
                <a:latin typeface="Arial"/>
              </a:rPr>
              <a:t>▸  </a:t>
            </a:r>
            <a:r>
              <a:rPr sz="1600" b="0">
                <a:solidFill>
                  <a:srgbClr val="1B1B1F"/>
                </a:solidFill>
                <a:latin typeface="Arial"/>
              </a:rPr>
              <a:t>Every builder deserves an AI workbench they fully own and control</a:t>
            </a:r>
          </a:p>
          <a:p>
            <a:pPr>
              <a:spcAft>
                <a:spcPts val="1000"/>
              </a:spcAft>
            </a:pPr>
            <a:r>
              <a:rPr sz="1600" b="1">
                <a:solidFill>
                  <a:srgbClr val="7C3AED"/>
                </a:solidFill>
                <a:latin typeface="Arial"/>
              </a:rPr>
              <a:t>▸  </a:t>
            </a:r>
            <a:r>
              <a:rPr sz="1600" b="0">
                <a:solidFill>
                  <a:srgbClr val="1B1B1F"/>
                </a:solidFill>
                <a:latin typeface="Arial"/>
              </a:rPr>
              <a:t>From idea to shipped software and content — all on one local-first surface</a:t>
            </a:r>
          </a:p>
          <a:p>
            <a:pPr>
              <a:spcAft>
                <a:spcPts val="1000"/>
              </a:spcAft>
            </a:pPr>
            <a:r>
              <a:rPr sz="1600" b="1">
                <a:solidFill>
                  <a:srgbClr val="7C3AED"/>
                </a:solidFill>
                <a:latin typeface="Arial"/>
              </a:rPr>
              <a:t>▸  </a:t>
            </a:r>
            <a:r>
              <a:rPr sz="1600" b="0">
                <a:solidFill>
                  <a:srgbClr val="1B1B1F"/>
                </a:solidFill>
                <a:latin typeface="Arial"/>
              </a:rPr>
              <a:t>A creator marketplace that compounds into an ecosystem, not just a tool</a:t>
            </a:r>
          </a:p>
          <a:p>
            <a:pPr>
              <a:spcAft>
                <a:spcPts val="1000"/>
              </a:spcAft>
            </a:pPr>
            <a:r>
              <a:rPr sz="1600" b="1">
                <a:solidFill>
                  <a:srgbClr val="7C3AED"/>
                </a:solidFill>
                <a:latin typeface="Arial"/>
              </a:rPr>
              <a:t>▸  </a:t>
            </a:r>
            <a:r>
              <a:rPr sz="1600" b="0">
                <a:solidFill>
                  <a:srgbClr val="1B1B1F"/>
                </a:solidFill>
                <a:latin typeface="Arial"/>
              </a:rPr>
              <a:t>The default home for the next generation of privacy-first, AI-native builders</a:t>
            </a:r>
          </a:p>
          <a:p>
            <a:pPr>
              <a:spcAft>
                <a:spcPts val="1000"/>
              </a:spcAft>
            </a:pPr>
            <a:r>
              <a:rPr sz="1600" b="1">
                <a:solidFill>
                  <a:srgbClr val="7C3AED"/>
                </a:solidFill>
                <a:latin typeface="Arial"/>
              </a:rPr>
              <a:t>▸  </a:t>
            </a:r>
            <a:r>
              <a:rPr sz="1600" b="0">
                <a:solidFill>
                  <a:srgbClr val="1B1B1F"/>
                </a:solidFill>
                <a:latin typeface="Arial"/>
              </a:rPr>
              <a:t>Local-first is the inevitable future of AI — and Dobby is building it</a:t>
            </a:r>
          </a:p>
        </p:txBody>
      </p:sp>
      <p:sp>
        <p:nvSpPr>
          <p:cNvPr id="5" name="TextBox 4"/>
          <p:cNvSpPr txBox="1"/>
          <p:nvPr/>
        </p:nvSpPr>
        <p:spPr>
          <a:xfrm>
            <a:off x="640080" y="6355080"/>
            <a:ext cx="10972800" cy="365760"/>
          </a:xfrm>
          <a:prstGeom prst="rect">
            <a:avLst/>
          </a:prstGeom>
          <a:noFill/>
        </p:spPr>
        <p:txBody>
          <a:bodyPr wrap="square">
            <a:spAutoFit/>
          </a:bodyPr>
          <a:lstStyle/>
          <a:p>
            <a:r>
              <a:rPr sz="1000" b="0">
                <a:solidFill>
                  <a:srgbClr val="6B6B76"/>
                </a:solidFill>
                <a:latin typeface="Arial"/>
              </a:rPr>
              <a:t>Dobby — local-first AI workbench</a:t>
            </a:r>
          </a:p>
        </p:txBody>
      </p:sp>
      <p:sp>
        <p:nvSpPr>
          <p:cNvPr id="6" name="TextBox 5"/>
          <p:cNvSpPr txBox="1"/>
          <p:nvPr/>
        </p:nvSpPr>
        <p:spPr>
          <a:xfrm>
            <a:off x="11247120" y="6355080"/>
            <a:ext cx="731520" cy="365760"/>
          </a:xfrm>
          <a:prstGeom prst="rect">
            <a:avLst/>
          </a:prstGeom>
          <a:noFill/>
        </p:spPr>
        <p:txBody>
          <a:bodyPr wrap="square">
            <a:spAutoFit/>
          </a:bodyPr>
          <a:lstStyle/>
          <a:p>
            <a:pPr algn="r"/>
            <a:r>
              <a:rPr sz="1000" b="0">
                <a:solidFill>
                  <a:srgbClr val="6B6B76"/>
                </a:solidFill>
                <a:latin typeface="Aria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